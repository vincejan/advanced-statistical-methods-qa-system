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66928"/>
            <a:ext cx="365760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1">
                <a:solidFill>
                  <a:srgbClr val="C4DEE5"/>
                </a:solidFill>
                <a:latin typeface="Microsoft YaHei"/>
              </a:rPr>
              <a:t>Course Project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170432"/>
            <a:ext cx="8046720" cy="9601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</a:rPr>
              <a:t>高级统计方法知识图谱智能问答系统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7040880" cy="47548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D9F0F2"/>
                </a:solidFill>
                <a:latin typeface="Microsoft YaHei"/>
              </a:rPr>
              <a:t>课程设计答辩详尽版 · RAG 可信问答 + 知识图谱 + 管理后台 + 公网部署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知识点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786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614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图谱边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问答对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416052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8853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D9F0F2"/>
                </a:solidFill>
                <a:latin typeface="Microsoft YaHei"/>
              </a:rPr>
              <a:t>1413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466344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文本块</a:t>
            </a:r>
          </a:p>
        </p:txBody>
      </p:sp>
      <p:pic>
        <p:nvPicPr>
          <p:cNvPr id="17" name="Picture 16" descr="remote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914400"/>
            <a:ext cx="3657600" cy="2788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8" y="5989320"/>
            <a:ext cx="5029200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00" b="0">
                <a:solidFill>
                  <a:srgbClr val="D9F0F2"/>
                </a:solidFill>
                <a:latin typeface="Microsoft YaHei"/>
              </a:rPr>
              <a:t>已部署：https://aistudyassistant.bluesclawd.dev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从题目二出发，将教材、知识图谱和问答对组织成可交互的课程学习工具。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解决课程知识分散、教材英文抽取、问答缺少引用、图谱难以交互的问题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系统必须会拒答无关问题，不为了显得聪明而伪造来源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最终交付包含代码、数据、验证截图、部署和汇报材料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教材选择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英文 ISLRv2 作为 RAG 主语料，中文扫描教材仅作术语参考。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中文教材是扫描版，OCR 成本高且噪声大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英文 PDF 是文本型，能稳定抽取章节、页码和正文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中文提问通过术语扩展检索英文证据，回答仍保持中文体验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数据资产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系统启动后自动种子化课程知识资产并建立教材索引。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69164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81965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13795B"/>
                </a:solidFill>
                <a:latin typeface="Microsoft YaHei"/>
              </a:rPr>
              <a:t>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知识点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169164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81965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16718B"/>
                </a:solidFill>
                <a:latin typeface="Microsoft YaHei"/>
              </a:rPr>
              <a:t>336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219456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图谱边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9164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81965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9F6238"/>
                </a:solidFill>
                <a:latin typeface="Microsoft YaHei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19456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问答对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91640"/>
            <a:ext cx="1600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819656"/>
            <a:ext cx="11430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000" b="1">
                <a:solidFill>
                  <a:srgbClr val="13795B"/>
                </a:solidFill>
                <a:latin typeface="Microsoft YaHei"/>
              </a:rPr>
              <a:t>1413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94560"/>
            <a:ext cx="1143000" cy="20116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850" b="0">
                <a:solidFill>
                  <a:srgbClr val="66758A"/>
                </a:solidFill>
                <a:latin typeface="Microsoft YaHei"/>
              </a:rPr>
              <a:t>文本块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2862072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278892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知识点覆盖监督学习、回归、分类、重采样、正则化、树模型、SVM、无监督学习等</a:t>
            </a:r>
          </a:p>
        </p:txBody>
      </p:sp>
      <p:sp>
        <p:nvSpPr>
          <p:cNvPr id="19" name="Oval 18"/>
          <p:cNvSpPr/>
          <p:nvPr/>
        </p:nvSpPr>
        <p:spPr>
          <a:xfrm>
            <a:off x="804672" y="3291839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218687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图谱边包含“属于、相关、对比、用于、评估”等关系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" y="3721607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364845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文本块经过清洗，过滤目录、图注、坐标轴和公式噪声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系统架构：从课程问题到可信回答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FastAPI + React + SQLite + 教材 RAG + 知识图谱 + MiniMax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66544"/>
            <a:ext cx="109728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用户问题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21991" y="2084832"/>
            <a:ext cx="25603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8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92024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2066544"/>
            <a:ext cx="109728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范围判断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1" y="2084832"/>
            <a:ext cx="25603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8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66544"/>
            <a:ext cx="109728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教材检索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2084832"/>
            <a:ext cx="25603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8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92024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066544"/>
            <a:ext cx="109728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图谱子图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08392" y="2084832"/>
            <a:ext cx="25603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8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92024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2066544"/>
            <a:ext cx="109728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MiniMax 生成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084832"/>
            <a:ext cx="256032" cy="22860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800" b="1">
                <a:solidFill>
                  <a:srgbClr val="66758A"/>
                </a:solidFill>
                <a:latin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920240"/>
            <a:ext cx="14173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40112" y="2066544"/>
            <a:ext cx="109728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中文答案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1546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300984"/>
            <a:ext cx="2926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可信度守门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3657600"/>
            <a:ext cx="2926079" cy="7955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out_of_scope / insufficient_evidence
低证据不展示伪来源和伪图谱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1546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300984"/>
            <a:ext cx="2926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数据闭环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657600"/>
            <a:ext cx="2926079" cy="7955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会话、历史、用户、问答对、文本块、知识点和图谱边全部结构化入库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315468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74152" y="3300984"/>
            <a:ext cx="2926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管理闭环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3657600"/>
            <a:ext cx="2926079" cy="7955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管理员可配置模型、维护数据资产、审计历史并管理学生账号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RAG 可信度设计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回答前先判定问题是否在课程范围内。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无关问题返回 out_of_scope，来源、推荐问题和图谱全部为空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统计相关但教材证据不足时返回 insufficient_evidence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正常问题才展示来源、相关问题和图谱子图</a:t>
            </a:r>
          </a:p>
        </p:txBody>
      </p:sp>
      <p:pic>
        <p:nvPicPr>
          <p:cNvPr id="11" name="Picture 10" descr="desktop-out-of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MiniMax 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通过 OpenAI-compatible Chat Completions 调用 MiniMax-M3。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API Key 只在 .env 和运行时配置表保存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管理员后台可切换 Base URL、模型和 Key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自动化测试通过 APP_DISABLE_LLM=true 避免费用消耗</a:t>
            </a:r>
          </a:p>
        </p:txBody>
      </p:sp>
      <p:pic>
        <p:nvPicPr>
          <p:cNvPr id="11" name="Picture 10" descr="desktop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多轮追问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会话消息结构化保存，每轮证据独立刷新。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追问会结合最近上下文补全问题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清晰无关问题不会被历史上下文污染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侧栏来源、推荐问题和图谱跟随当前轮次切换</a:t>
            </a:r>
          </a:p>
        </p:txBody>
      </p:sp>
      <p:pic>
        <p:nvPicPr>
          <p:cNvPr id="11" name="Picture 10" descr="desktop-follow-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学习历史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历史记录不只是一行摘要，点击可展开当时全文。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每条历史保存回答、来源、conversation_id 和 message_id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可用于课后复盘，也便于教师审计问答质量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清空历史只影响当前用户</a:t>
            </a:r>
          </a:p>
        </p:txBody>
      </p:sp>
      <p:pic>
        <p:nvPicPr>
          <p:cNvPr id="11" name="Picture 10" descr="desktop-history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09/19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知识图谱交互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Cytoscape 自动布局解决标签重叠和节点排布问题。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学生端可搜索概念并加载子图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节点点击联动邻域和推荐问题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英文术语完整显示，不再被按钮高度截断</a:t>
            </a:r>
          </a:p>
        </p:txBody>
      </p:sp>
      <p:pic>
        <p:nvPicPr>
          <p:cNvPr id="11" name="Picture 10" descr="desktop-student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10/19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管理员后台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从内容维护扩展到系统运营。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783080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管理用户角色、改密、注销会话和删除学生账号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4028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167128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维护问答对、知识点、图谱边和教材文本块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2432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551176"/>
            <a:ext cx="454456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配置 LLM API 并审计历史提问</a:t>
            </a:r>
          </a:p>
        </p:txBody>
      </p:sp>
      <p:pic>
        <p:nvPicPr>
          <p:cNvPr id="11" name="Picture 10" descr="desktop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91640"/>
            <a:ext cx="5577840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题目要求映射：不是 demo，而是完整交付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围绕数据规模、功能闭环、验证材料和课程报告逐项覆盖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837944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数据资产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691640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837944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69 知识点 / 336 图谱边 / 70 问答对 / 1413 文本块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96312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42616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问答功能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2496312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2642616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中文多轮追问、RAG 来源、图谱子图、推荐问题、历史全文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00984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3447288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管理功能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300984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3447288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用户权限、模型 Key、问答对、知识点、图谱边、文本块和历史审计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05656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51960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验证材料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4105656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9272" y="4251960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pytest、构建、npm audit、Playwright 截图、公网验收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10328"/>
            <a:ext cx="21031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056632"/>
            <a:ext cx="1783079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文档报告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4910328"/>
            <a:ext cx="78638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5056632"/>
            <a:ext cx="75438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README、AGENTS、部署方案、对抗性审查、实验报告、PPT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12/19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性能观测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每次回答返回耗时拆分，定位慢点主要在 LLM 生成。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analysis_ms、retrieval_ms、graph_ms、llm_ms、total_ms 都会展示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文本块索引使用进程内缓存，热查询检索开销较低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公网验证中一次 MiniMax 回答约 19.8 秒，主要耗时来自生成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13/19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自动化验证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用脚本把“能跑”提升为“可验收”。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pytest 覆盖认证、问答、图谱、历史和管理权限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npm build 与 npm audit 检查前端质量和依赖风险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Playwright 生成桌面、移动端和远程部署截图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14/19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对抗性审查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从第一性原理检查系统是否会装懂。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无关问题、提示注入、要求编造来源、术语混淆、公式噪声都进入对抗题集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默认图谱不再回退到固定中心节点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API Key 永远不以明文出现在响应或文档中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15/19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部署方案：Docker Compose + 宿主机 Caddy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公网域名已接入，验证覆盖健康检查、登录、问答和知识图谱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37944"/>
            <a:ext cx="24231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公网入口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194560"/>
            <a:ext cx="242316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https://aistudyassistant.bluesclawd.dev
Caddy 自动 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69164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1" y="1837944"/>
            <a:ext cx="24231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3795B"/>
                </a:solidFill>
                <a:latin typeface="Microsoft YaHei"/>
              </a:rPr>
              <a:t>容器服务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1" y="2194560"/>
            <a:ext cx="242316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backend: 127.0.0.1:18000
frontend: 127.0.0.1:18080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91640"/>
            <a:ext cx="27432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837944"/>
            <a:ext cx="242316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9F6238"/>
                </a:solidFill>
                <a:latin typeface="Microsoft YaHei"/>
              </a:rPr>
              <a:t>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2194560"/>
            <a:ext cx="242316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Docker volume 保存 SQLite 数据
.env 保存密钥和管理员密码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5480" y="1691640"/>
            <a:ext cx="1554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72" y="1837944"/>
            <a:ext cx="123444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300" b="1">
                <a:solidFill>
                  <a:srgbClr val="16718B"/>
                </a:solidFill>
                <a:latin typeface="Microsoft YaHei"/>
              </a:rPr>
              <a:t>仓库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2194560"/>
            <a:ext cx="1234440" cy="56692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950" b="0">
                <a:solidFill>
                  <a:srgbClr val="172033"/>
                </a:solidFill>
                <a:latin typeface="Microsoft YaHei"/>
              </a:rPr>
              <a:t>GitHub public
main</a:t>
            </a:r>
          </a:p>
        </p:txBody>
      </p:sp>
      <p:pic>
        <p:nvPicPr>
          <p:cNvPr id="17" name="Picture 16" descr="remote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246120"/>
            <a:ext cx="5212080" cy="260604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446520" y="347472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3401568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线上健康检查：/api/health 成功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3858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3785616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线上统计：69 / 336 / 70 / 1413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4242816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169664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真实课程问答：answer_mode=minimax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4626864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4553712"/>
            <a:ext cx="417880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250" b="0">
                <a:solidFill>
                  <a:srgbClr val="172033"/>
                </a:solidFill>
                <a:latin typeface="Microsoft YaHei"/>
              </a:rPr>
              <a:t>默认管理员密码已在服务器侧替换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16/19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技术取舍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保守地沿用轻量技术栈，优先完成课程项目闭环。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SQLite 足够支撑课程演示，未来可替换 PostgreSQL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本地混合检索稳定可控，未来可升级 Chroma/FAISS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Cytoscape 负责图谱可视化，避免手写 SVG 的排版风险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17/19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可继续优化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系统已达到正式演示水平，但仍有产品化增长空间。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索引重建改为后台任务并显示进度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增加 LLM token、失败率和成本统计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批量导入导出问答对和知识图谱，方便教师验收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18/19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8961120" cy="50292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2500" b="1">
                <a:solidFill>
                  <a:srgbClr val="0F2A3A"/>
                </a:solidFill>
                <a:latin typeface="Microsoft YaHei"/>
              </a:rPr>
              <a:t>答辩总结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960120"/>
            <a:ext cx="9601200" cy="292608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050" b="0">
                <a:solidFill>
                  <a:srgbClr val="66758A"/>
                </a:solidFill>
                <a:latin typeface="Microsoft YaHei"/>
              </a:rPr>
              <a:t>本项目完成了从课程资料到可信智能助教的完整工程落地。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53312"/>
            <a:ext cx="10881360" cy="18288"/>
          </a:xfrm>
          <a:prstGeom prst="rect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" y="1856231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83080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有数据资产、有交互系统、有管理后台、有验证链路、有公网部署</a:t>
            </a:r>
          </a:p>
        </p:txBody>
      </p:sp>
      <p:sp>
        <p:nvSpPr>
          <p:cNvPr id="7" name="Oval 6"/>
          <p:cNvSpPr/>
          <p:nvPr/>
        </p:nvSpPr>
        <p:spPr>
          <a:xfrm>
            <a:off x="804672" y="2286000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212848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重点不是让模型随便回答，而是让系统有边界、有依据、有可审查性</a:t>
            </a:r>
          </a:p>
        </p:txBody>
      </p:sp>
      <p:sp>
        <p:nvSpPr>
          <p:cNvPr id="9" name="Oval 8"/>
          <p:cNvSpPr/>
          <p:nvPr/>
        </p:nvSpPr>
        <p:spPr>
          <a:xfrm>
            <a:off x="804672" y="2715768"/>
            <a:ext cx="73152" cy="73152"/>
          </a:xfrm>
          <a:prstGeom prst="ellipse">
            <a:avLst/>
          </a:prstGeom>
          <a:solidFill>
            <a:srgbClr val="1671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642615"/>
            <a:ext cx="9619488" cy="310896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icrosoft YaHei"/>
              </a:rPr>
              <a:t>可以作为课程设计作品直接展示和答辩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384048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高级统计方法智能问答系统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473952"/>
            <a:ext cx="731520" cy="182880"/>
          </a:xfrm>
          <a:prstGeom prst="rect">
            <a:avLst/>
          </a:prstGeom>
          <a:noFill/>
        </p:spPr>
        <p:txBody>
          <a:bodyPr wrap="none" lIns="18288" rIns="18288" tIns="9144" bIns="9144">
            <a:spAutoFit/>
          </a:bodyPr>
          <a:lstStyle/>
          <a:p>
            <a:r>
              <a:rPr sz="750" b="0">
                <a:solidFill>
                  <a:srgbClr val="66758A"/>
                </a:solidFill>
                <a:latin typeface="Microsoft YaHei"/>
              </a:rPr>
              <a:t>19/19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